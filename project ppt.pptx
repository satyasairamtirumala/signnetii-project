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4A851-EAE4-4B75-AADC-71E12F13DF75}" v="3" dt="2026-03-25T08:15:13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umala satya sai ram" userId="bdc6fd426c362822" providerId="LiveId" clId="{A9FA76A3-7BD4-4878-90E7-3F5B64C27D90}"/>
    <pc:docChg chg="undo custSel modSld sldOrd">
      <pc:chgData name="tirumala satya sai ram" userId="bdc6fd426c362822" providerId="LiveId" clId="{A9FA76A3-7BD4-4878-90E7-3F5B64C27D90}" dt="2026-04-09T17:29:24.775" v="141" actId="1035"/>
      <pc:docMkLst>
        <pc:docMk/>
      </pc:docMkLst>
      <pc:sldChg chg="addSp delSp modSp mod ord">
        <pc:chgData name="tirumala satya sai ram" userId="bdc6fd426c362822" providerId="LiveId" clId="{A9FA76A3-7BD4-4878-90E7-3F5B64C27D90}" dt="2026-03-25T08:15:39.155" v="88" actId="20577"/>
        <pc:sldMkLst>
          <pc:docMk/>
          <pc:sldMk cId="0" sldId="257"/>
        </pc:sldMkLst>
        <pc:spChg chg="mod">
          <ac:chgData name="tirumala satya sai ram" userId="bdc6fd426c362822" providerId="LiveId" clId="{A9FA76A3-7BD4-4878-90E7-3F5B64C27D90}" dt="2026-03-25T08:15:39.155" v="8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03.965" v="58" actId="6549"/>
          <ac:spMkLst>
            <pc:docMk/>
            <pc:sldMk cId="0" sldId="257"/>
            <ac:spMk id="10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14.751" v="63" actId="654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25.676" v="66" actId="6549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29.324" v="67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52.591" v="72" actId="6549"/>
          <ac:spMkLst>
            <pc:docMk/>
            <pc:sldMk cId="0" sldId="257"/>
            <ac:spMk id="19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3:55.664" v="73" actId="6549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4:01.269" v="74" actId="6549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4:04.223" v="75" actId="6549"/>
          <ac:spMkLst>
            <pc:docMk/>
            <pc:sldMk cId="0" sldId="257"/>
            <ac:spMk id="22" creationId="{00000000-0000-0000-0000-000000000000}"/>
          </ac:spMkLst>
        </pc:spChg>
        <pc:spChg chg="add mod">
          <ac:chgData name="tirumala satya sai ram" userId="bdc6fd426c362822" providerId="LiveId" clId="{A9FA76A3-7BD4-4878-90E7-3F5B64C27D90}" dt="2026-03-25T08:15:24.570" v="84" actId="255"/>
          <ac:spMkLst>
            <pc:docMk/>
            <pc:sldMk cId="0" sldId="257"/>
            <ac:spMk id="23" creationId="{8D048ABB-51A3-6579-8BBE-44F71ABEF894}"/>
          </ac:spMkLst>
        </pc:spChg>
      </pc:sldChg>
      <pc:sldChg chg="addSp delSp modSp mod">
        <pc:chgData name="tirumala satya sai ram" userId="bdc6fd426c362822" providerId="LiveId" clId="{A9FA76A3-7BD4-4878-90E7-3F5B64C27D90}" dt="2026-03-25T08:12:55.762" v="57" actId="20577"/>
        <pc:sldMkLst>
          <pc:docMk/>
          <pc:sldMk cId="0" sldId="258"/>
        </pc:sldMkLst>
        <pc:spChg chg="mod">
          <ac:chgData name="tirumala satya sai ram" userId="bdc6fd426c362822" providerId="LiveId" clId="{A9FA76A3-7BD4-4878-90E7-3F5B64C27D90}" dt="2026-03-25T08:12:55.762" v="57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1:08.964" v="4" actId="6549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1:04.474" v="3" actId="6549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2:50.139" v="55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1:47.994" v="25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1:57.158" v="27" actId="6549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irumala satya sai ram" userId="bdc6fd426c362822" providerId="LiveId" clId="{A9FA76A3-7BD4-4878-90E7-3F5B64C27D90}" dt="2026-03-25T08:11:53.039" v="26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5:46.772" v="90" actId="20577"/>
        <pc:sldMkLst>
          <pc:docMk/>
          <pc:sldMk cId="0" sldId="259"/>
        </pc:sldMkLst>
        <pc:spChg chg="mod">
          <ac:chgData name="tirumala satya sai ram" userId="bdc6fd426c362822" providerId="LiveId" clId="{A9FA76A3-7BD4-4878-90E7-3F5B64C27D90}" dt="2026-03-25T08:15:46.772" v="90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5:52.417" v="92" actId="20577"/>
        <pc:sldMkLst>
          <pc:docMk/>
          <pc:sldMk cId="0" sldId="260"/>
        </pc:sldMkLst>
        <pc:spChg chg="mod">
          <ac:chgData name="tirumala satya sai ram" userId="bdc6fd426c362822" providerId="LiveId" clId="{A9FA76A3-7BD4-4878-90E7-3F5B64C27D90}" dt="2026-03-25T08:15:52.417" v="92" actId="20577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5:58.750" v="94" actId="20577"/>
        <pc:sldMkLst>
          <pc:docMk/>
          <pc:sldMk cId="0" sldId="261"/>
        </pc:sldMkLst>
        <pc:spChg chg="mod">
          <ac:chgData name="tirumala satya sai ram" userId="bdc6fd426c362822" providerId="LiveId" clId="{A9FA76A3-7BD4-4878-90E7-3F5B64C27D90}" dt="2026-03-25T08:15:58.750" v="94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03.858" v="96" actId="20577"/>
        <pc:sldMkLst>
          <pc:docMk/>
          <pc:sldMk cId="0" sldId="262"/>
        </pc:sldMkLst>
        <pc:spChg chg="mod">
          <ac:chgData name="tirumala satya sai ram" userId="bdc6fd426c362822" providerId="LiveId" clId="{A9FA76A3-7BD4-4878-90E7-3F5B64C27D90}" dt="2026-03-25T08:16:03.858" v="96" actId="2057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09.072" v="98" actId="20577"/>
        <pc:sldMkLst>
          <pc:docMk/>
          <pc:sldMk cId="0" sldId="263"/>
        </pc:sldMkLst>
        <pc:spChg chg="mod">
          <ac:chgData name="tirumala satya sai ram" userId="bdc6fd426c362822" providerId="LiveId" clId="{A9FA76A3-7BD4-4878-90E7-3F5B64C27D90}" dt="2026-03-25T08:16:09.072" v="98" actId="20577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14.588" v="100" actId="20577"/>
        <pc:sldMkLst>
          <pc:docMk/>
          <pc:sldMk cId="0" sldId="264"/>
        </pc:sldMkLst>
        <pc:spChg chg="mod">
          <ac:chgData name="tirumala satya sai ram" userId="bdc6fd426c362822" providerId="LiveId" clId="{A9FA76A3-7BD4-4878-90E7-3F5B64C27D90}" dt="2026-03-25T08:16:14.588" v="100" actId="20577"/>
          <ac:spMkLst>
            <pc:docMk/>
            <pc:sldMk cId="0" sldId="264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20.242" v="102" actId="20577"/>
        <pc:sldMkLst>
          <pc:docMk/>
          <pc:sldMk cId="0" sldId="265"/>
        </pc:sldMkLst>
        <pc:spChg chg="mod">
          <ac:chgData name="tirumala satya sai ram" userId="bdc6fd426c362822" providerId="LiveId" clId="{A9FA76A3-7BD4-4878-90E7-3F5B64C27D90}" dt="2026-03-25T08:16:20.242" v="102" actId="20577"/>
          <ac:spMkLst>
            <pc:docMk/>
            <pc:sldMk cId="0" sldId="265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25.736" v="104" actId="20577"/>
        <pc:sldMkLst>
          <pc:docMk/>
          <pc:sldMk cId="0" sldId="267"/>
        </pc:sldMkLst>
        <pc:spChg chg="mod">
          <ac:chgData name="tirumala satya sai ram" userId="bdc6fd426c362822" providerId="LiveId" clId="{A9FA76A3-7BD4-4878-90E7-3F5B64C27D90}" dt="2026-03-25T08:16:25.736" v="104" actId="20577"/>
          <ac:spMkLst>
            <pc:docMk/>
            <pc:sldMk cId="0" sldId="267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30.329" v="106" actId="20577"/>
        <pc:sldMkLst>
          <pc:docMk/>
          <pc:sldMk cId="0" sldId="268"/>
        </pc:sldMkLst>
        <pc:spChg chg="mod">
          <ac:chgData name="tirumala satya sai ram" userId="bdc6fd426c362822" providerId="LiveId" clId="{A9FA76A3-7BD4-4878-90E7-3F5B64C27D90}" dt="2026-03-25T08:16:30.329" v="106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4-09T17:29:24.775" v="141" actId="1035"/>
        <pc:sldMkLst>
          <pc:docMk/>
          <pc:sldMk cId="0" sldId="269"/>
        </pc:sldMkLst>
        <pc:spChg chg="mod">
          <ac:chgData name="tirumala satya sai ram" userId="bdc6fd426c362822" providerId="LiveId" clId="{A9FA76A3-7BD4-4878-90E7-3F5B64C27D90}" dt="2026-03-25T08:16:35.958" v="108" actId="20577"/>
          <ac:spMkLst>
            <pc:docMk/>
            <pc:sldMk cId="0" sldId="269"/>
            <ac:spMk id="8" creationId="{00000000-0000-0000-0000-000000000000}"/>
          </ac:spMkLst>
        </pc:spChg>
        <pc:picChg chg="mod">
          <ac:chgData name="tirumala satya sai ram" userId="bdc6fd426c362822" providerId="LiveId" clId="{A9FA76A3-7BD4-4878-90E7-3F5B64C27D90}" dt="2026-04-09T17:29:24.775" v="141" actId="1035"/>
          <ac:picMkLst>
            <pc:docMk/>
            <pc:sldMk cId="0" sldId="269"/>
            <ac:picMk id="9" creationId="{00000000-0000-0000-0000-000000000000}"/>
          </ac:picMkLst>
        </pc:picChg>
      </pc:sldChg>
      <pc:sldChg chg="modSp mod">
        <pc:chgData name="tirumala satya sai ram" userId="bdc6fd426c362822" providerId="LiveId" clId="{A9FA76A3-7BD4-4878-90E7-3F5B64C27D90}" dt="2026-03-25T08:16:42.162" v="110" actId="20577"/>
        <pc:sldMkLst>
          <pc:docMk/>
          <pc:sldMk cId="0" sldId="270"/>
        </pc:sldMkLst>
        <pc:spChg chg="mod">
          <ac:chgData name="tirumala satya sai ram" userId="bdc6fd426c362822" providerId="LiveId" clId="{A9FA76A3-7BD4-4878-90E7-3F5B64C27D90}" dt="2026-03-25T08:16:42.162" v="110" actId="2057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48.034" v="112" actId="20577"/>
        <pc:sldMkLst>
          <pc:docMk/>
          <pc:sldMk cId="0" sldId="272"/>
        </pc:sldMkLst>
        <pc:spChg chg="mod">
          <ac:chgData name="tirumala satya sai ram" userId="bdc6fd426c362822" providerId="LiveId" clId="{A9FA76A3-7BD4-4878-90E7-3F5B64C27D90}" dt="2026-03-25T08:16:48.034" v="112" actId="20577"/>
          <ac:spMkLst>
            <pc:docMk/>
            <pc:sldMk cId="0" sldId="272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54.732" v="114" actId="20577"/>
        <pc:sldMkLst>
          <pc:docMk/>
          <pc:sldMk cId="0" sldId="273"/>
        </pc:sldMkLst>
        <pc:spChg chg="mod">
          <ac:chgData name="tirumala satya sai ram" userId="bdc6fd426c362822" providerId="LiveId" clId="{A9FA76A3-7BD4-4878-90E7-3F5B64C27D90}" dt="2026-03-25T08:16:54.732" v="114" actId="20577"/>
          <ac:spMkLst>
            <pc:docMk/>
            <pc:sldMk cId="0" sldId="273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6:59.960" v="116" actId="20577"/>
        <pc:sldMkLst>
          <pc:docMk/>
          <pc:sldMk cId="0" sldId="274"/>
        </pc:sldMkLst>
        <pc:spChg chg="mod">
          <ac:chgData name="tirumala satya sai ram" userId="bdc6fd426c362822" providerId="LiveId" clId="{A9FA76A3-7BD4-4878-90E7-3F5B64C27D90}" dt="2026-03-25T08:16:59.960" v="116" actId="20577"/>
          <ac:spMkLst>
            <pc:docMk/>
            <pc:sldMk cId="0" sldId="274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05.802" v="118" actId="20577"/>
        <pc:sldMkLst>
          <pc:docMk/>
          <pc:sldMk cId="0" sldId="275"/>
        </pc:sldMkLst>
        <pc:spChg chg="mod">
          <ac:chgData name="tirumala satya sai ram" userId="bdc6fd426c362822" providerId="LiveId" clId="{A9FA76A3-7BD4-4878-90E7-3F5B64C27D90}" dt="2026-03-25T08:17:05.802" v="118" actId="20577"/>
          <ac:spMkLst>
            <pc:docMk/>
            <pc:sldMk cId="0" sldId="275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10.571" v="120" actId="20577"/>
        <pc:sldMkLst>
          <pc:docMk/>
          <pc:sldMk cId="0" sldId="276"/>
        </pc:sldMkLst>
        <pc:spChg chg="mod">
          <ac:chgData name="tirumala satya sai ram" userId="bdc6fd426c362822" providerId="LiveId" clId="{A9FA76A3-7BD4-4878-90E7-3F5B64C27D90}" dt="2026-03-25T08:17:10.571" v="120" actId="2057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15.770" v="122" actId="20577"/>
        <pc:sldMkLst>
          <pc:docMk/>
          <pc:sldMk cId="0" sldId="277"/>
        </pc:sldMkLst>
        <pc:spChg chg="mod">
          <ac:chgData name="tirumala satya sai ram" userId="bdc6fd426c362822" providerId="LiveId" clId="{A9FA76A3-7BD4-4878-90E7-3F5B64C27D90}" dt="2026-03-25T08:17:15.770" v="122" actId="20577"/>
          <ac:spMkLst>
            <pc:docMk/>
            <pc:sldMk cId="0" sldId="277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19.901" v="124" actId="20577"/>
        <pc:sldMkLst>
          <pc:docMk/>
          <pc:sldMk cId="0" sldId="278"/>
        </pc:sldMkLst>
        <pc:spChg chg="mod">
          <ac:chgData name="tirumala satya sai ram" userId="bdc6fd426c362822" providerId="LiveId" clId="{A9FA76A3-7BD4-4878-90E7-3F5B64C27D90}" dt="2026-03-25T08:17:19.901" v="124" actId="20577"/>
          <ac:spMkLst>
            <pc:docMk/>
            <pc:sldMk cId="0" sldId="278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24.945" v="126" actId="20577"/>
        <pc:sldMkLst>
          <pc:docMk/>
          <pc:sldMk cId="0" sldId="279"/>
        </pc:sldMkLst>
        <pc:spChg chg="mod">
          <ac:chgData name="tirumala satya sai ram" userId="bdc6fd426c362822" providerId="LiveId" clId="{A9FA76A3-7BD4-4878-90E7-3F5B64C27D90}" dt="2026-03-25T08:17:24.945" v="126" actId="20577"/>
          <ac:spMkLst>
            <pc:docMk/>
            <pc:sldMk cId="0" sldId="279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29.505" v="128" actId="20577"/>
        <pc:sldMkLst>
          <pc:docMk/>
          <pc:sldMk cId="0" sldId="281"/>
        </pc:sldMkLst>
        <pc:spChg chg="mod">
          <ac:chgData name="tirumala satya sai ram" userId="bdc6fd426c362822" providerId="LiveId" clId="{A9FA76A3-7BD4-4878-90E7-3F5B64C27D90}" dt="2026-03-25T08:17:29.505" v="128" actId="20577"/>
          <ac:spMkLst>
            <pc:docMk/>
            <pc:sldMk cId="0" sldId="281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38.420" v="130" actId="20577"/>
        <pc:sldMkLst>
          <pc:docMk/>
          <pc:sldMk cId="0" sldId="283"/>
        </pc:sldMkLst>
        <pc:spChg chg="mod">
          <ac:chgData name="tirumala satya sai ram" userId="bdc6fd426c362822" providerId="LiveId" clId="{A9FA76A3-7BD4-4878-90E7-3F5B64C27D90}" dt="2026-03-25T08:17:38.420" v="130" actId="20577"/>
          <ac:spMkLst>
            <pc:docMk/>
            <pc:sldMk cId="0" sldId="283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47.910" v="132" actId="20577"/>
        <pc:sldMkLst>
          <pc:docMk/>
          <pc:sldMk cId="0" sldId="284"/>
        </pc:sldMkLst>
        <pc:spChg chg="mod">
          <ac:chgData name="tirumala satya sai ram" userId="bdc6fd426c362822" providerId="LiveId" clId="{A9FA76A3-7BD4-4878-90E7-3F5B64C27D90}" dt="2026-03-25T08:17:47.910" v="132" actId="20577"/>
          <ac:spMkLst>
            <pc:docMk/>
            <pc:sldMk cId="0" sldId="284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52.741" v="134" actId="20577"/>
        <pc:sldMkLst>
          <pc:docMk/>
          <pc:sldMk cId="0" sldId="285"/>
        </pc:sldMkLst>
        <pc:spChg chg="mod">
          <ac:chgData name="tirumala satya sai ram" userId="bdc6fd426c362822" providerId="LiveId" clId="{A9FA76A3-7BD4-4878-90E7-3F5B64C27D90}" dt="2026-03-25T08:17:52.741" v="134" actId="20577"/>
          <ac:spMkLst>
            <pc:docMk/>
            <pc:sldMk cId="0" sldId="285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7:56.843" v="136" actId="20577"/>
        <pc:sldMkLst>
          <pc:docMk/>
          <pc:sldMk cId="0" sldId="286"/>
        </pc:sldMkLst>
        <pc:spChg chg="mod">
          <ac:chgData name="tirumala satya sai ram" userId="bdc6fd426c362822" providerId="LiveId" clId="{A9FA76A3-7BD4-4878-90E7-3F5B64C27D90}" dt="2026-03-25T08:17:56.843" v="136" actId="20577"/>
          <ac:spMkLst>
            <pc:docMk/>
            <pc:sldMk cId="0" sldId="286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8:03.080" v="138" actId="20577"/>
        <pc:sldMkLst>
          <pc:docMk/>
          <pc:sldMk cId="0" sldId="287"/>
        </pc:sldMkLst>
        <pc:spChg chg="mod">
          <ac:chgData name="tirumala satya sai ram" userId="bdc6fd426c362822" providerId="LiveId" clId="{A9FA76A3-7BD4-4878-90E7-3F5B64C27D90}" dt="2026-03-25T08:18:03.080" v="138" actId="20577"/>
          <ac:spMkLst>
            <pc:docMk/>
            <pc:sldMk cId="0" sldId="287"/>
            <ac:spMk id="8" creationId="{00000000-0000-0000-0000-000000000000}"/>
          </ac:spMkLst>
        </pc:spChg>
      </pc:sldChg>
      <pc:sldChg chg="modSp mod">
        <pc:chgData name="tirumala satya sai ram" userId="bdc6fd426c362822" providerId="LiveId" clId="{A9FA76A3-7BD4-4878-90E7-3F5B64C27D90}" dt="2026-03-25T08:18:07.530" v="140" actId="20577"/>
        <pc:sldMkLst>
          <pc:docMk/>
          <pc:sldMk cId="0" sldId="288"/>
        </pc:sldMkLst>
        <pc:spChg chg="mod">
          <ac:chgData name="tirumala satya sai ram" userId="bdc6fd426c362822" providerId="LiveId" clId="{A9FA76A3-7BD4-4878-90E7-3F5B64C27D90}" dt="2026-03-25T08:18:07.530" v="140" actId="20577"/>
          <ac:spMkLst>
            <pc:docMk/>
            <pc:sldMk cId="0" sldId="288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521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109728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58768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2743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ELURU COLLEGE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ENGINEERING AND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" y="1097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4F7"/>
                </a:solidFill>
              </a:rPr>
              <a:t>(Approved by AICTE-NEW DELHI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4F7"/>
                </a:solidFill>
              </a:rPr>
              <a:t>Affiliated to JNTU-Kakinada)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4592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DEPARTMENT OF COMPUTER SCIENCE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</a:rPr>
              <a:t>AND ENGINEERING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210312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6B"/>
                </a:solidFill>
              </a:rPr>
              <a:t>ECET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32004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⚡  FINAL YEAR PROJECT · CSE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" y="36118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4F7"/>
                </a:solidFill>
              </a:rPr>
              <a:t>Team Guided by: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" y="38130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Ch. Sindhu Priyanka, B.Tech, M.Tech,(Ph.D)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Associate Professor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" y="43434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6E4F7"/>
                </a:solidFill>
              </a:rPr>
              <a:t>Eluru College of Engineering &amp; Technology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0" y="548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B6B"/>
                </a:solidFill>
              </a:rPr>
              <a:t>SignNet-II: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114800" y="118872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3A8A"/>
                </a:solidFill>
              </a:rPr>
              <a:t>An End-to-End Transformer Architecture for Bidirectional Sign Language Translation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0" y="2514600"/>
            <a:ext cx="4480560" cy="0"/>
          </a:xfrm>
          <a:prstGeom prst="line">
            <a:avLst/>
          </a:prstGeom>
          <a:noFill/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6517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9260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1. Tirumala Satya Sai Ram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22JD1A05B2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2. Veeravalli Manohar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22JD1A05B7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3. Kolusu Ganesh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   22JD1A05C6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ABSTRACT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Project overview — what was built, how, and what was achieved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31720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31720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5968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0216" y="98755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1554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" y="2011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2926080"/>
            <a:ext cx="8595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048ABB-51A3-6579-8BBE-44F71ABEF894}"/>
              </a:ext>
            </a:extLst>
          </p:cNvPr>
          <p:cNvSpPr txBox="1"/>
          <p:nvPr/>
        </p:nvSpPr>
        <p:spPr>
          <a:xfrm>
            <a:off x="411480" y="914400"/>
            <a:ext cx="85679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SIGNNET II addresses the critical communication barrier between the Deaf and non- signers by replacing traditional, limited sequential models like RNNs and LSTMs with a high-performance Transformer-based architecture. While RNNs and LSTMs often struggle with long-range dependencies in complex gestures, SIGNNET II utilizes dual- stream input processing and advanced attention mechanisms to master the intricate spatial and temporal dynamics of sign language. This unified framework enables seamless bidirectional translation, converting sign-to-text and text-to-sign with superior accuracy, as evidenced by its state-of-the-art BLEU scores and recognition metrics. Engineered for the real world, the model supports real-time inference for live video conferencing and utilizes transfer learning to adapt across various global dialects. By integrating these technical advancements, SIGNNET II provides a scalable, inclusive solution that significantly outperforms previous sequential methods in both fluency and</a:t>
            </a:r>
          </a:p>
          <a:p>
            <a:r>
              <a:rPr lang="en-GB" dirty="0"/>
              <a:t>robustness.</a:t>
            </a:r>
            <a:endParaRPr lang="en-B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Background and motivation for SignNet-II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0789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371600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914400"/>
            <a:ext cx="8385048" cy="368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GB" sz="1600" dirty="0"/>
              <a:t>Introduction</a:t>
            </a:r>
          </a:p>
          <a:p>
            <a:endParaRPr lang="en-GB" sz="1600" dirty="0"/>
          </a:p>
          <a:p>
            <a:r>
              <a:rPr lang="en-GB" sz="1600" dirty="0"/>
              <a:t>SIGNNET II addresses the limitations of traditional sequential models, such as Recurrent Neural Networks (RNNs) and Long Short-Term Memory (LSTM) networks, which often struggle to capture the complex spatial-temporal dependencies of sign language. By shifting to a Transformer-based framework, the model leverages self-attention mechanisms and a dual-stream input system to effectively process multimodal features like hand gestures and facial expressions. This architecture enables a unified, two-way translation (sign-to-text and text-to-sign), ensuring contextual fluency and superior accuracy compared to one-way, handcrafted legacy systems. Evaluated on large-scale benchmarks, SIGNNET II demonstrates high robustness and scalability, outperforming state-of-the-art methods in BLEU scores and recognition metrics. Furthermore, the model is optimized for real-time inference, making it a practical tool for live video conferencing and assistive technologies. Ultimately, SIGNNET II offers an extensible and inclusive solution, setting a new foundation for accessible communication between signers and non-signers globally.</a:t>
            </a:r>
            <a:endParaRPr lang="en-BE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860940"/>
            <a:ext cx="8412480" cy="53460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7899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3977640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Primary goals of the SignNet-II translation 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The primary objective is to develop an End-to-End Transformer-based Sign Language Translation system that accurately performs bidirectional translation and provides seamless real-time communication for the Deaf community.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627632"/>
            <a:ext cx="310896" cy="310896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55448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Bidirectional Translation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182880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Develop a unified framework capable of translating both sign-to-text and text-to-sign, overcoming the limitation of one-way systems.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633472"/>
            <a:ext cx="310896" cy="310896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Transformer-Based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8346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Implement a high-performance Transformer model with dual-stream input processing and advanced self-attention mechanisms for superior accuracy.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639312"/>
            <a:ext cx="310896" cy="310896"/>
          </a:xfrm>
          <a:prstGeom prst="ellipse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5661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Multi-Modal Feature Fusion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384048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Simultaneously process video frames, hand keypoints, and facial expressions using a multi-modal fusion strategy to capture the full linguistic nuance of gestures.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1627632"/>
            <a:ext cx="310896" cy="310896"/>
          </a:xfrm>
          <a:prstGeom prst="ellipse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75504" y="155448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Real-Time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75504" y="182880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Optimize the model for low-latency inference to enable live video conferencing, webcam-based recognition, and mobile assistive device deployment.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2633472"/>
            <a:ext cx="310896" cy="310896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6334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25603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Robustness &amp; Scalability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75504" y="2834640"/>
            <a:ext cx="40050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Utilize transfer learning and data augmentation to ensure high robustness across diverse signers, regional dialects, and real-world noisy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Boundaries and coverage of the SignNet-II project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914400"/>
            <a:ext cx="4160520" cy="34747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IN SCOPE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325880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Dataset Scope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1581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CIC-IDS2017 equivalent: sign language video datasets balanced across multiple gesture classes including continuous and isolated sign sequences.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130552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Translation Scope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3865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Bidirectional translation — sign-to-text (video/webcam input → text output) and text-to-sign (text input → sign animation output).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935224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35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XAI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31912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Transformer self-attention visualization to explain which frame regions and keypoints most influence each translation decision.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739896"/>
            <a:ext cx="54864" cy="6400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39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Deployment Scope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9959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Web-based Django application supporting dataset upload, model training, auto prediction, and live webcam-based sign recognition.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✘  OUT OF SCOPE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325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Mobile App Deployment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15819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Native iOS/Android deployment is not included in this version. Future work may address mobile and edge-device optimization.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130552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305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Multi-Language Support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91456" y="23865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This version focuses on a single sign language dialect. Multi-language and regional sign dialect support is planned for future iterations.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2935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Federated Learning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91456" y="319125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Privacy-preserving federated training across distributed signer datasets is out of scope for the current prototype.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739896"/>
            <a:ext cx="54864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3739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6B"/>
                </a:solidFill>
              </a:rPr>
              <a:t>AR/VR Integration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91456" y="39959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Integration with augmented reality or virtual reality assistive devices is identified as future scope but not implemented here.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EXISTING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Overview of traditional sign language translation approaches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Traditional sign language translation systems primarily evolved from handcrafted computer vision features to deep learning architectures like RNNs and LSTMs.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50876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Vanishing Gradients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RNNs and LSTMs suffer from vanishing gradients making it hard to capture long-range contextual dependencies required for continuous signing.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508760"/>
            <a:ext cx="2651760" cy="64008"/>
          </a:xfrm>
          <a:prstGeom prst="rect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One-Way Translation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Existing Transformer models remain restricted to one-way translation — either sign-to-text or text-to-sign — within isolated frameworks.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1888" y="1508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1888" y="150876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1600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High Latency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1892808"/>
            <a:ext cx="246888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Systems exhibit poor generalization across diverse signers and suffer from high computational latency, making them impractical for real-time use.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063240"/>
            <a:ext cx="39502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063240"/>
            <a:ext cx="3950208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54680"/>
            <a:ext cx="376732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Poor Multi-Modal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447288"/>
            <a:ext cx="3767328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Most existing systems process visual features in isolation without integrating hand keypoints, facial expressions, and optical flow simultaneously, reducing translation accuracy.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53128" y="30632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53128" y="3063240"/>
            <a:ext cx="416052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31546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Limited Dataset Generalization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44568" y="3447288"/>
            <a:ext cx="397764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Systems trained on small datasets fail to generalize across different signing styles, regional dialects, and signer-specific variations, reducing real-world applicability.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DISADVANTAGES OF EXISTING SYSTEMS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Key limitations that SignNet-II overcomes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Limited Bidirectional Translation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Existing systems support only one-way translation (sign-to-text OR text-to-sign), not both simultaneously.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73168" y="109728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97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Inadequate Modeling of Multimodal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13258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Failure to jointly process hand gestures, facial expressions, and optical flow leads to lower accuracy.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Challenges with Long-Range Dependencies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RNN/LSTM architectures struggle to maintain context over extended signing sequences.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221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Performance Drop in Real-World Settings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56032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Lab-trained models degrade significantly in noisy, uncontrolled real-world environments.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High Computational Complexity and Latency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Sequential processing models cannot deliver the low-latency inference needed for live communication.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3566160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566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456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Insufficient Dataset Availability and Scalability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7947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Limited labeled datasets prevent models from scaling to diverse signers and regional sign dialects.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SignNet-II: Transformer-based bidirectional sign language translation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SIGNNET II is a pioneering transformer-based architecture that enables seamless, bidirectional translation between sign language and spoken text within a unified framework.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81328"/>
            <a:ext cx="265176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Multi-Modal Fusion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Processes video frames, hand keypoints, and facial expressions simultaneously to capture the full linguistic nuance of gestures.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481328"/>
            <a:ext cx="2651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Advanced Self-Attention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Masters complex spatial-temporal dynamics of continuous signing, effectively replacing the limitations of RNNs and LSTMs.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48132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481328"/>
            <a:ext cx="2651760" cy="64008"/>
          </a:xfrm>
          <a:prstGeom prst="rect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5727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Transfer Learning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86537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Enhanced through transfer learning and data augmentation, ensuring high robustness against signer variability and background noise.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2898648"/>
            <a:ext cx="2651760" cy="6400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Real-Time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Supports low-latency communication for live conferencing and mobile assistive devices with optimized inference pipeline.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73552" y="2898648"/>
            <a:ext cx="265176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Bidirectional Translation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Unlike traditional one-way systems, enables seamless sign-to-text AND text-to-sign translation in a single unified model.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898648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2898648"/>
            <a:ext cx="265176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990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Scalable &amp; Inclusive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328269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Designed to adapt across various global dialects, providing a scalable, inclusive solution for the Deaf community worldwide.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REQUIREMENTS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Hardware and software specifications for SignNet-II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960120"/>
            <a:ext cx="4023360" cy="34747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4447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447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5179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Pentium IV 2.4 GHz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1305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305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Hard Disk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2037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40 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816352"/>
            <a:ext cx="137160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16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B6B"/>
                </a:solidFill>
              </a:rPr>
              <a:t>RAM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512 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9601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SOFTWARE REQUIREMENTS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444752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4475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Operating System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1490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Windows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112264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112264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Coding Language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21579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Python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779776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779776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Framework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282549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TensorFlow / PyTorch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447288"/>
            <a:ext cx="1508760" cy="4114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4728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B6B"/>
                </a:solidFill>
              </a:rPr>
              <a:t>Libraries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34930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OpenPose, OpenCV, NumPy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Transformer-based multi-stream encoder-decoder architecture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UML DIAGRAMS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</a:rPr>
              <a:t>Class • Use Case • Collaborative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CLASS DIAGRAM: Sign-to-Text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Object-oriented design of the translation system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389120" cy="3703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19472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</a:rPr>
              <a:t>Class Responsibilities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19472" y="1353312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1353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upload sign language dataset()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47488" y="1554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Loads raw sign language video data into the pipeline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919472" y="1865376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47488" y="186537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preprocess dataset()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47488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Normalizes frames, extracts keypoints and optical flow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919472" y="2377440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23774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train &amp; test split()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47488" y="2578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Divides data into training and validation sets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919472" y="2889504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7488" y="28895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train propose sign net2 algorithm()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47488" y="30906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Trains the SignNet-II Transformer model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919472" y="3401568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sign to text from video()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47488" y="36027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Converts uploaded sign video to text output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919472" y="3913632"/>
            <a:ext cx="54864" cy="3200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47488" y="39136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sign to text from webcam()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047488" y="4114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</a:rPr>
              <a:t>Real-time webcam-based sign recognition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 CASE DIAGRAM: Sign-to-Text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User interactions for sign recognition 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114800" cy="3749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66344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</a:rPr>
              <a:t>Use Case Summary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Upload sign language dataset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892808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18928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Load and preprocess video frames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414016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2414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Train &amp; test data split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2935224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29352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Train SignNet-II algorithm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456432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Sign to text from uploaded video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3977640"/>
            <a:ext cx="256032" cy="25603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Sign to text via live webcam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 CASE DIAGRAM: Text-to-Sign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User interactions for sign generation module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02970"/>
            <a:ext cx="502920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6B"/>
                </a:solidFill>
              </a:rPr>
              <a:t>Text-to-Sign Use Cases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1371600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1371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Home page access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92808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User registration (Sign-Up)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2414016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241401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User login authentication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935224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9352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Enter text input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3456432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34564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Submit and view sign animation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3977640"/>
            <a:ext cx="256032" cy="25603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3977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Result display with sign video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COLLABORATIVE DIAGRAM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Sequence of interactions between system components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pic>
        <p:nvPicPr>
          <p:cNvPr id="9" name="Image 0" descr="/home/claude/signnet_unpacked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85953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WORKING OF THE INTERFACE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</a:rPr>
              <a:t>Sign-to-Text Module — Step by Step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1: Load the Application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1/8</a:t>
            </a:r>
            <a:endParaRPr lang="en-US" sz="1200" dirty="0"/>
          </a:p>
        </p:txBody>
      </p:sp>
      <p:pic>
        <p:nvPicPr>
          <p:cNvPr id="11" name="Image 0" descr="/home/claude/signnet_unpacked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Launch the SignNet-II application. The main interface loads with navigation options for Sign-to-Text and Text-to-Sign modules.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2: Load the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2/8</a:t>
            </a:r>
            <a:endParaRPr lang="en-US" sz="1200" dirty="0"/>
          </a:p>
        </p:txBody>
      </p:sp>
      <p:pic>
        <p:nvPicPr>
          <p:cNvPr id="11" name="Image 0" descr="/home/claude/signnet_unpacked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Upload the sign language dataset. The system accepts video files containing continuous signing sequences for training and testing.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3: Process the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3/8</a:t>
            </a:r>
            <a:endParaRPr lang="en-US" sz="1200" dirty="0"/>
          </a:p>
        </p:txBody>
      </p:sp>
      <p:pic>
        <p:nvPicPr>
          <p:cNvPr id="11" name="Image 0" descr="/home/claude/signnet_unpacked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preprocessing pipeline extracts video frames, applies OpenPose for keypoint detection, and computes optical flow features.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4: Train &amp; Test Data Split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4/8</a:t>
            </a:r>
            <a:endParaRPr lang="en-US" sz="1200" dirty="0"/>
          </a:p>
        </p:txBody>
      </p:sp>
      <p:pic>
        <p:nvPicPr>
          <p:cNvPr id="11" name="Image 0" descr="/home/claude/signnet_unpacked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dataset is split into training and testing subsets. Stratified sampling ensures balanced class representation across splits.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5: Train SignNet-II Algorithm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5/8</a:t>
            </a:r>
            <a:endParaRPr lang="en-US" sz="1200" dirty="0"/>
          </a:p>
        </p:txBody>
      </p:sp>
      <p:pic>
        <p:nvPicPr>
          <p:cNvPr id="11" name="Image 0" descr="/home/claude/signnet_unpacked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Transformer-based SignNet-II model is trained on the prepared dataset. Training progress, loss curves, and metrics are displayed.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6: Upload Video for Recognition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6/8</a:t>
            </a:r>
            <a:endParaRPr lang="en-US" sz="1200" dirty="0"/>
          </a:p>
        </p:txBody>
      </p:sp>
      <p:pic>
        <p:nvPicPr>
          <p:cNvPr id="11" name="Image 0" descr="/home/claude/signnet_unpacked/ppt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Upload a sign language video file for translation. The system accepts MP4/AVI formats and processes the video through the trained model.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7: Sign to Text — From Video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7/8</a:t>
            </a:r>
            <a:endParaRPr lang="en-US" sz="1200" dirty="0"/>
          </a:p>
        </p:txBody>
      </p:sp>
      <p:pic>
        <p:nvPicPr>
          <p:cNvPr id="11" name="Image 0" descr="/home/claude/signnet_unpacked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model processes the uploaded video and outputs the recognized text translation with confidence scores for each predicted token.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8: Sign to Text — From Webcam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Sign-to-Text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8/8</a:t>
            </a:r>
            <a:endParaRPr lang="en-US" sz="1200" dirty="0"/>
          </a:p>
        </p:txBody>
      </p:sp>
      <p:pic>
        <p:nvPicPr>
          <p:cNvPr id="11" name="Image 0" descr="/home/claude/signnet_unpacked/ppt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Real-time sign-to-text translation using live webcam feed. The system processes frames continuously and displays translations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6459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WORKING OF THE INTERFACE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6E4F7"/>
                </a:solidFill>
              </a:rPr>
              <a:t>Text-to-Sign Module — Step by Step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1: Home Page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Text-to-Sign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1/5</a:t>
            </a:r>
            <a:endParaRPr lang="en-US" sz="1200" dirty="0"/>
          </a:p>
        </p:txBody>
      </p:sp>
      <p:pic>
        <p:nvPicPr>
          <p:cNvPr id="11" name="Image 0" descr="/home/claude/signnet_unpacked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Audio-to-Sign Language Tool home page. Users see the main interface with a start button to begin the text-to-sign translation workflow.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2: Sign-Up / Registration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Text-to-Sign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2/5</a:t>
            </a:r>
            <a:endParaRPr lang="en-US" sz="1200" dirty="0"/>
          </a:p>
        </p:txBody>
      </p:sp>
      <p:pic>
        <p:nvPicPr>
          <p:cNvPr id="11" name="Image 0" descr="/home/claude/signnet_unpacked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New users register with their credentials. The system creates a secure account enabling personalized access to the translation service.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3: Log-In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Text-to-Sign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3/5</a:t>
            </a:r>
            <a:endParaRPr lang="en-US" sz="1200" dirty="0"/>
          </a:p>
        </p:txBody>
      </p:sp>
      <p:pic>
        <p:nvPicPr>
          <p:cNvPr id="11" name="Image 0" descr="/home/claude/signnet_unpacked/ppt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Registered users authenticate with their credentials. The system validates the login and grants access to the full translation dashboard.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4: Enter Text and Submit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Text-to-Sign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4/5</a:t>
            </a:r>
            <a:endParaRPr lang="en-US" sz="1200" dirty="0"/>
          </a:p>
        </p:txBody>
      </p:sp>
      <p:pic>
        <p:nvPicPr>
          <p:cNvPr id="11" name="Image 0" descr="/home/claude/signnet_unpacked/ppt/media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Users type any text into the input field and click Submit. The NLP module tokenizes and prepares the text for sign animation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Step 5: Result — Sign Animation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Text-to-Sign Interface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046720" y="777240"/>
            <a:ext cx="685800" cy="6858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5/5</a:t>
            </a:r>
            <a:endParaRPr lang="en-US" sz="1200" dirty="0"/>
          </a:p>
        </p:txBody>
      </p:sp>
      <p:pic>
        <p:nvPicPr>
          <p:cNvPr id="11" name="Image 0" descr="/home/claude/signnet_unpacked/ppt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60120"/>
            <a:ext cx="6400800" cy="36576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960120"/>
            <a:ext cx="1920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960120"/>
            <a:ext cx="1920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024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2B6B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967728" y="1298448"/>
            <a:ext cx="1783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</a:rPr>
              <a:t>The system generates and plays a sign language animation corresponding to the entered text, displayed alongside the input for reference.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Summary and impact of SignNet-II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91440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Sign language is one of the most vital tools for communication between the deaf and mute communities and the broader society.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481328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481328"/>
            <a:ext cx="4206240" cy="6400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727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Bridging Communication Gaps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86537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SignNet-II provides a scalable solution for real-time communication between deaf/mute individuals and non-signers without requiring prior knowledge of sign language.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82312" y="1481328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82312" y="1481328"/>
            <a:ext cx="4206240" cy="640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5727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Technical Achievement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86537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 Transformer-based architecture delivers state-of-the-art BLEU scores, outperforming traditional RNN/LSTM methods in both accuracy and inference speed.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990088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990088"/>
            <a:ext cx="4206240" cy="64008"/>
          </a:xfrm>
          <a:prstGeom prst="rect">
            <a:avLst/>
          </a:prstGeom>
          <a:solidFill>
            <a:srgbClr val="2952B3"/>
          </a:solidFill>
          <a:ln w="12700">
            <a:solidFill>
              <a:srgbClr val="2952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815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Bidirectional Translation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37413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The unified framework enables both sign-to-text and text-to-sign translation, making it far more versatile than any existing single-direction system.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2990088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2990088"/>
            <a:ext cx="4206240" cy="64008"/>
          </a:xfrm>
          <a:prstGeom prst="rect">
            <a:avLst/>
          </a:prstGeom>
          <a:solidFill>
            <a:srgbClr val="0D9E6E"/>
          </a:solidFill>
          <a:ln w="12700">
            <a:solidFill>
              <a:srgbClr val="0D9E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815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74136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Future work includes mobile deployment, multi-language support, federated learning for privacy-preserving training, and integration with AR/VR assistive devices.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481888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481888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" y="0"/>
            <a:ext cx="8851392" cy="658368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B6CA8"/>
                </a:solidFill>
              </a:rPr>
              <a:t>Academic and research sources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Eluru College of Engineering &amp; Technology  |  Dept. of CSE  | 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115568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15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005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Amit kumar shinde and Ramesh Khagalkar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316736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Sign language to text and vice versa recoganization using computer vision in Marathi. International Journal of Computer Application (0975-8887), National Conference on Advanced Computing (NCAC 2015).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322576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22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1284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Sulabha M Naik, Mahendra S Naik, Akriti Sharma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523744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Rehabilitation of hearing impaired children in India. International Journal of Advanced Research in Computer and Communication Engineering.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529584"/>
            <a:ext cx="347472" cy="347472"/>
          </a:xfrm>
          <a:prstGeom prst="ellipse">
            <a:avLst/>
          </a:prstGeom>
          <a:solidFill>
            <a:srgbClr val="0D2B6B"/>
          </a:solidFill>
          <a:ln w="12700">
            <a:solidFill>
              <a:srgbClr val="0D2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529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419856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6B"/>
                </a:solidFill>
              </a:rPr>
              <a:t>Neha Poddar, Shrushti Rao, Shruti Sawant, Vrushali Somavanshi, Prof. Sumita Chandak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73075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Study of Sign Language Translation using Gesture Recognition. International Journal of Advanced Research in Computer and Communication Engineering, Vol. 4, Issue 2, February 2015.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2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914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</a:rPr>
              <a:t>THANK YOU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E4F7"/>
                </a:solidFill>
              </a:rPr>
              <a:t>SignNet-II: An End-to-End Transformer Architecture for Bidirectional Sign Language Translation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Eluru College of Engineering &amp; Technology  |  Department of Computer Science and Engineering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2529</Words>
  <Application>Microsoft Office PowerPoint</Application>
  <PresentationFormat>On-screen Show (16:9)</PresentationFormat>
  <Paragraphs>328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SignNet-II Presentation</dc:title>
  <dc:subject>PptxGenJS Presentation</dc:subject>
  <dc:creator>PptxGenJS</dc:creator>
  <cp:lastModifiedBy>tirumala satya sai ram</cp:lastModifiedBy>
  <cp:revision>1</cp:revision>
  <dcterms:created xsi:type="dcterms:W3CDTF">2026-03-25T06:06:15Z</dcterms:created>
  <dcterms:modified xsi:type="dcterms:W3CDTF">2026-04-09T17:29:34Z</dcterms:modified>
</cp:coreProperties>
</file>