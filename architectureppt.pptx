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0" r:id="rId10"/>
    <p:sldId id="264" r:id="rId11"/>
    <p:sldId id="265" r:id="rId12"/>
    <p:sldId id="28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umala satya sai ram" userId="bdc6fd426c362822" providerId="LiveId" clId="{A9FA76A3-7BD4-4878-90E7-3F5B64C27D90}"/>
    <pc:docChg chg="modSld sldOrd">
      <pc:chgData name="tirumala satya sai ram" userId="bdc6fd426c362822" providerId="LiveId" clId="{A9FA76A3-7BD4-4878-90E7-3F5B64C27D90}" dt="2026-04-09T17:27:26.680" v="1"/>
      <pc:docMkLst>
        <pc:docMk/>
      </pc:docMkLst>
      <pc:sldChg chg="ord">
        <pc:chgData name="tirumala satya sai ram" userId="bdc6fd426c362822" providerId="LiveId" clId="{A9FA76A3-7BD4-4878-90E7-3F5B64C27D90}" dt="2026-04-09T17:27:26.680" v="1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43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845B-DE1A-0BBC-395A-0304F4B0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4A4B9-24AE-49DE-0865-B68A40D2C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B8345-73F6-A9E2-7061-AD4A18787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561E0-7E40-59C9-F260-BB60BC8AC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1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10972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58768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2743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ELURU COLLEGE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 AND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7"/>
                </a:solidFill>
              </a:rPr>
              <a:t>(Approved by AICTE-NEW DELHI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4F7"/>
                </a:solidFill>
              </a:rPr>
              <a:t>Affiliated to JNTU-Kakinada)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4592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DEPARTMENT OF COMPUTER SCIENCE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AND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21031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</a:rPr>
              <a:t>ECET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32004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⚡  FINAL YEAR PROJECT · CSE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7"/>
                </a:solidFill>
              </a:rPr>
              <a:t>Team Guided by: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3813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Ch. Sindhu Priyanka, B.Tech, M.Tech,(Ph.D)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Associate Professor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" y="4343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4F7"/>
                </a:solidFill>
              </a:rPr>
              <a:t>Eluru College of Engineering &amp; Technology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0" y="548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B6B"/>
                </a:solidFill>
                <a:latin typeface="Bahnschrift SemiBold SemiConden" panose="020B0502040204020203" pitchFamily="34" charset="0"/>
              </a:rPr>
              <a:t>SignNet-II:</a:t>
            </a:r>
            <a:endParaRPr lang="en-US" sz="3000" dirty="0">
              <a:latin typeface="Bahnschrift SemiBold SemiConden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3632" y="1188720"/>
            <a:ext cx="5230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A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Transformer Architecture for Bidirectional Sign Language Translation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0" y="2662311"/>
            <a:ext cx="448056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916233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2B6B"/>
                </a:solidFill>
                <a:latin typeface="Algerian" panose="04020705040A02060702" pitchFamily="82" charset="0"/>
              </a:rPr>
              <a:t>Team Members</a:t>
            </a:r>
            <a:endParaRPr lang="en-US" sz="2500" dirty="0">
              <a:latin typeface="Algerian" panose="04020705040A02060702" pitchFamily="8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3287268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</a:rPr>
              <a:t>1. Tirumala Satya Sai Ram      - </a:t>
            </a:r>
            <a:r>
              <a:rPr lang="en-US" sz="1400" dirty="0">
                <a:solidFill>
                  <a:srgbClr val="4A5568"/>
                </a:solidFill>
              </a:rPr>
              <a:t> 22JD1A05B2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>
                <a:solidFill>
                  <a:srgbClr val="1A1A2E"/>
                </a:solidFill>
              </a:rPr>
              <a:t>2. </a:t>
            </a:r>
            <a:r>
              <a:rPr lang="en-US" sz="1400" dirty="0" err="1">
                <a:solidFill>
                  <a:srgbClr val="1A1A2E"/>
                </a:solidFill>
              </a:rPr>
              <a:t>Veeravalli</a:t>
            </a:r>
            <a:r>
              <a:rPr lang="en-US" sz="1400" dirty="0">
                <a:solidFill>
                  <a:srgbClr val="1A1A2E"/>
                </a:solidFill>
              </a:rPr>
              <a:t> Manohar             - </a:t>
            </a:r>
            <a:r>
              <a:rPr lang="en-US" sz="1400" dirty="0">
                <a:solidFill>
                  <a:srgbClr val="4A5568"/>
                </a:solidFill>
              </a:rPr>
              <a:t> 22JD1A05B7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1A1A2E"/>
                </a:solidFill>
              </a:rPr>
              <a:t>3. </a:t>
            </a:r>
            <a:r>
              <a:rPr lang="en-US" sz="1400" dirty="0" err="1">
                <a:solidFill>
                  <a:srgbClr val="1A1A2E"/>
                </a:solidFill>
              </a:rPr>
              <a:t>Kolusu</a:t>
            </a:r>
            <a:r>
              <a:rPr lang="en-US" sz="1400" dirty="0">
                <a:solidFill>
                  <a:srgbClr val="1A1A2E"/>
                </a:solidFill>
              </a:rPr>
              <a:t> Ganesh                      - </a:t>
            </a:r>
            <a:r>
              <a:rPr lang="en-US" sz="1400" dirty="0">
                <a:solidFill>
                  <a:srgbClr val="4A5568"/>
                </a:solidFill>
              </a:rPr>
              <a:t> 22JD1A05C6</a:t>
            </a:r>
            <a:endParaRPr lang="en-US" sz="1400" dirty="0"/>
          </a:p>
        </p:txBody>
      </p:sp>
      <p:pic>
        <p:nvPicPr>
          <p:cNvPr id="20" name="Picture 19" descr="TEST-ALL-TEMPLATES – Eluru College Of ...">
            <a:extLst>
              <a:ext uri="{FF2B5EF4-FFF2-40B4-BE49-F238E27FC236}">
                <a16:creationId xmlns:a16="http://schemas.microsoft.com/office/drawing/2014/main" id="{9F70C6B2-CE0E-7DEB-DF36-5ECEE0E64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41" y="1483995"/>
            <a:ext cx="2100850" cy="1533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36576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ABSTRACT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49589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1B6CA8"/>
                </a:solidFill>
              </a:rPr>
              <a:t>Project overview — what was built, how, and what was achieved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1720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3172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5968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15968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0216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2011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29260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B4337-62D1-2CFB-0E50-6FB74ED0C77A}"/>
              </a:ext>
            </a:extLst>
          </p:cNvPr>
          <p:cNvSpPr txBox="1"/>
          <p:nvPr/>
        </p:nvSpPr>
        <p:spPr>
          <a:xfrm>
            <a:off x="329184" y="1796166"/>
            <a:ext cx="88239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SIGNNET II</a:t>
            </a:r>
            <a:r>
              <a:rPr lang="en-US" sz="2000" dirty="0"/>
              <a:t> overcomes communication barriers between Deaf and non-signers by replacing RNNs and LSTMs with a Transformer-based model. It uses dual-stream inputs and attention mechanisms to capture complex sign language patterns.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 The system enables accurate bidirectional translation (sign-to-text and text-to-sign), achieves strong benchmark performance, and supports real-time use. With transfer learning for different dialects, it provides a scalable, robust, and inclusive solution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94826" y="64008"/>
            <a:ext cx="808189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355" y="15494"/>
            <a:ext cx="45719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-566226" y="52160"/>
            <a:ext cx="9710225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383345" y="6400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     INTRODUCTION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-794826" y="4882896"/>
            <a:ext cx="9938825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794825" y="4882896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278541" y="1344168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60055" y="11430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60055" y="1435608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DE34D-10AD-0F8F-2BE3-576FB81D00F2}"/>
              </a:ext>
            </a:extLst>
          </p:cNvPr>
          <p:cNvSpPr txBox="1"/>
          <p:nvPr/>
        </p:nvSpPr>
        <p:spPr>
          <a:xfrm>
            <a:off x="155448" y="1298756"/>
            <a:ext cx="84961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SIGNNET II</a:t>
            </a:r>
            <a:r>
              <a:rPr lang="en-US" sz="2000" dirty="0"/>
              <a:t> improves on traditional models like RNN and LSTM, which struggle with complex sign language patterns. It uses a Transformer-based architecture with self-attention and dual-stream inputs to process gestures and facial expressions effectively.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model supports both sign-to-text and text-to-sign translation, ensuring better accuracy and contextual understanding. It performs well on benchmarks, offers real-time processing, and provides a scalable, practical solution for accessible communication between signers and non-signers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Primary goals of the SignNet-II translation 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The primary objective is to develop an End-to-End Transformer-based Sign Language Translation system that accurately performs bidirectional translation and provides seamless real-time communication for the Deaf community.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627632"/>
            <a:ext cx="310896" cy="310896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55448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Bidirectional Translation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82880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Develop a unified framework capable of translating both sign-to-text and text-to-sign, overcoming the limitation of one-way systems.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633472"/>
            <a:ext cx="310896" cy="31089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Transformer-Based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8346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Implement a high-performance Transformer model with dual-stream input processing and advanced self-attention mechanisms for superior accuracy.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639312"/>
            <a:ext cx="310896" cy="310896"/>
          </a:xfrm>
          <a:prstGeom prst="ellipse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5661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Multi-Modal Feature Fusion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84048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Simultaneously process video frames, hand keypoints, and facial expressions using a multi-modal fusion strategy to capture the full linguistic nuance of gestures.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1627632"/>
            <a:ext cx="310896" cy="310896"/>
          </a:xfrm>
          <a:prstGeom prst="ellipse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155448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Real-Time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75504" y="182880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Optimize the model for low-latency inference to enable live video conferencing, webcam-based recognition, and mobile assistive device deployment.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2633472"/>
            <a:ext cx="310896" cy="310896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Robustness &amp; Scalability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75504" y="28346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Utilize transfer learning and data augmentation to ensure high robustness across diverse signers, regional dialects, and real-world noisy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1B6CA8"/>
                </a:solidFill>
              </a:rPr>
              <a:t>Boundaries and coverage of the SignNet-II project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IN SCOPE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325880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B6B"/>
                </a:solidFill>
              </a:rPr>
              <a:t>Dataset</a:t>
            </a:r>
            <a:r>
              <a:rPr lang="en-US" sz="1050" b="1" dirty="0">
                <a:solidFill>
                  <a:srgbClr val="0D2B6B"/>
                </a:solidFill>
              </a:rPr>
              <a:t> </a:t>
            </a:r>
            <a:r>
              <a:rPr lang="en-US" sz="1600" b="1" dirty="0">
                <a:solidFill>
                  <a:srgbClr val="0D2B6B"/>
                </a:solidFill>
              </a:rPr>
              <a:t>Scope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1581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CIC-IDS2017 equivalent: sign language video datasets balanced across multiple gesture classes including continuous and isolated sign sequences.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" y="2130552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B6B"/>
                </a:solidFill>
              </a:rPr>
              <a:t>Translation Scope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7" y="2386584"/>
            <a:ext cx="80636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Bidirectional translation — sign-to-text (video/webcam input → text output) and text-to-sign (text input → sign animation output).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" y="2935224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35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B6B"/>
                </a:solidFill>
              </a:rPr>
              <a:t>XAI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" y="319125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Transformer self-attention visualization to explain which frame regions and keypoints most influence each translation decision</a:t>
            </a:r>
            <a:r>
              <a:rPr lang="en-US" sz="950" dirty="0">
                <a:solidFill>
                  <a:srgbClr val="4A5568"/>
                </a:solidFill>
              </a:rPr>
              <a:t>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739896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39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B6B"/>
                </a:solidFill>
              </a:rPr>
              <a:t>Deployment Scope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" y="39959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Web-based Django application supporting dataset upload, model training, auto prediction, and live webcam-based sign recognition.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91456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91456" y="23865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91456" y="31912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89266" y="3520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6206" y="40142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EXISTING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Overview of traditional sign language translation approaches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Traditional sign language translation systems primarily evolved from handcrafted computer vision features to deep learning architectures like RNNs and LSTMs.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50876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Vanishing Gradients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RNNs and LSTMs suffer from vanishing gradients making it hard to capture long-range contextual dependencies required for continuous signing.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08760"/>
            <a:ext cx="2651760" cy="64008"/>
          </a:xfrm>
          <a:prstGeom prst="rect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One-Way Translation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Existing Transformer models remain restricted to one-way translation — either sign-to-text or text-to-sign — within isolated frameworks.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1888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1888" y="150876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High 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Systems exhibit poor generalization across diverse signers and suffer from high computational latency, making them impractical for real-time use.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063240"/>
            <a:ext cx="39502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063240"/>
            <a:ext cx="3950208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5468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Poor Multi-Modal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447288"/>
            <a:ext cx="376732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Most existing systems process visual features in isolation without integrating hand keypoints, facial expressions, and optical flow simultaneously, reducing translation accuracy.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53128" y="30632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53128" y="3063240"/>
            <a:ext cx="416052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31546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Limited Dataset Generalization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44568" y="3447288"/>
            <a:ext cx="3977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Systems trained on small datasets fail to generalize across different signing styles, regional dialects, and signer-specific variations, reducing real-world applicability.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DISADVANTAGES OF EXISTING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Key limitations that SignNet-II overcomes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Limited Bidirectional Translation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Existing systems support only one-way translation (sign-to-text OR text-to-sign), not both simultaneously.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73168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Inadequate Modeling of Multimodal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Failure to jointly process hand gestures, facial expressions, and optical flow leads to lower accuracy.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Challenges with Long-Range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RNN/LSTM architectures struggle to maintain context over extended signing sequences.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Performance Drop in Real-World Settings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Lab-trained models degrade significantly in noisy, uncontrolled real-world environments.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High Computational Complexity and Latency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Sequential processing models cannot deliver the low-latency inference needed for live communication.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Insufficient Dataset Availability and Scalability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Limited labeled datasets prevent models from scaling to diverse signers and regional sign dialects.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PROPOSED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SignNet-II: Transformer-based bidirectional sign language translation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SIGNNET II is a pioneering transformer-based architecture that enables seamless, bidirectional translation between sign language and spoken text within a unified framework.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81328"/>
            <a:ext cx="265176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Multi-Modal Fusion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Processes video frames, hand keypoints, and facial expressions simultaneously to capture the full linguistic nuance of gestures.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481328"/>
            <a:ext cx="2651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Advanced Self-Attention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Masters complex spatial-temporal dynamics of continuous signing, effectively replacing the limitations of RNNs and LSTMs.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481328"/>
            <a:ext cx="2651760" cy="64008"/>
          </a:xfrm>
          <a:prstGeom prst="rect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Transfer Learning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Enhanced through transfer learning and data augmentation, ensuring high robustness against signer variability and background noise.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898648"/>
            <a:ext cx="2651760" cy="6400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Real-Time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Supports low-latency communication for live conferencing and mobile assistive devices with optimized inference pipeline.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2898648"/>
            <a:ext cx="265176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Bidirectional Translation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Unlike traditional one-way systems, enables seamless sign-to-text AND text-to-sign translation in a single unified model.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2898648"/>
            <a:ext cx="2651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Scalable &amp; Inclusive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Designed to adapt across various global dialects, providing a scalable, inclusive solution for the Deaf community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59A53-9FC7-F3FF-F890-B90EAF66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18287A-1A0D-1A76-E919-5590E91D1855}"/>
              </a:ext>
            </a:extLst>
          </p:cNvPr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D9023E-F228-3495-4531-6AEA73507490}"/>
              </a:ext>
            </a:extLst>
          </p:cNvPr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9C88D0-4655-C2E3-3510-D48D295C4250}"/>
              </a:ext>
            </a:extLst>
          </p:cNvPr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0E1A0B-886F-1AE7-C8A6-5B7AAC63284F}"/>
              </a:ext>
            </a:extLst>
          </p:cNvPr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ADVANTAGES OF PROPOSED SYSTEM</a:t>
            </a: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622670-935D-650B-9C71-E012922D65BF}"/>
              </a:ext>
            </a:extLst>
          </p:cNvPr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Key limitations that SignNet-II overcomes</a:t>
            </a:r>
            <a:endParaRPr lang="en-US" sz="9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A80FBE-0270-7C80-5095-8C3CF1BB2B52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A0913B-A483-A7BB-AD79-5830A11E5AE8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61C6EC-189E-AF00-FE52-69B66FF4E765}"/>
              </a:ext>
            </a:extLst>
          </p:cNvPr>
          <p:cNvSpPr/>
          <p:nvPr/>
        </p:nvSpPr>
        <p:spPr>
          <a:xfrm>
            <a:off x="347472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130A67-98BE-DD51-9EB2-63D80E216758}"/>
              </a:ext>
            </a:extLst>
          </p:cNvPr>
          <p:cNvSpPr/>
          <p:nvPr/>
        </p:nvSpPr>
        <p:spPr>
          <a:xfrm>
            <a:off x="34747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504703-E088-00E3-95F2-42A8449BFD6F}"/>
              </a:ext>
            </a:extLst>
          </p:cNvPr>
          <p:cNvSpPr/>
          <p:nvPr/>
        </p:nvSpPr>
        <p:spPr>
          <a:xfrm>
            <a:off x="786384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Bidirectional</a:t>
            </a:r>
            <a:r>
              <a:rPr lang="en-IN" sz="1100" b="1" dirty="0"/>
              <a:t> Translation</a:t>
            </a:r>
            <a:endParaRPr lang="en-US" sz="11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9EF349D-0E1E-DA61-CE9D-A69498EA916A}"/>
              </a:ext>
            </a:extLst>
          </p:cNvPr>
          <p:cNvSpPr/>
          <p:nvPr/>
        </p:nvSpPr>
        <p:spPr>
          <a:xfrm>
            <a:off x="786384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Unlike existing one-way systems, SIGNNET II performs both sign-to-text and text-to-sign translation within a single unified model, enabling real-time two-way communication between signers and non-signers.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996A86-890A-9FAA-8B96-562895DEA781}"/>
              </a:ext>
            </a:extLst>
          </p:cNvPr>
          <p:cNvSpPr/>
          <p:nvPr/>
        </p:nvSpPr>
        <p:spPr>
          <a:xfrm>
            <a:off x="4773168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D61B67-73F0-8A3F-1489-0F5109F5F39E}"/>
              </a:ext>
            </a:extLst>
          </p:cNvPr>
          <p:cNvSpPr/>
          <p:nvPr/>
        </p:nvSpPr>
        <p:spPr>
          <a:xfrm>
            <a:off x="4773168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23F856-32D9-B089-9AC2-FB57BD0CFAFB}"/>
              </a:ext>
            </a:extLst>
          </p:cNvPr>
          <p:cNvSpPr/>
          <p:nvPr/>
        </p:nvSpPr>
        <p:spPr>
          <a:xfrm>
            <a:off x="521208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Multimodal Feature Integration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521BC4-9FD2-C4F4-377B-DC8A16A0E1D4}"/>
              </a:ext>
            </a:extLst>
          </p:cNvPr>
          <p:cNvSpPr/>
          <p:nvPr/>
        </p:nvSpPr>
        <p:spPr>
          <a:xfrm>
            <a:off x="5212080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The system processes multiple input streams simultaneously — video frames, hand </a:t>
            </a:r>
            <a:r>
              <a:rPr lang="en-GB" sz="1000" dirty="0" err="1">
                <a:solidFill>
                  <a:schemeClr val="accent1">
                    <a:lumMod val="75000"/>
                  </a:schemeClr>
                </a:solidFill>
              </a:rPr>
              <a:t>keypoints</a:t>
            </a:r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, and facial expression features — giving it a richer understanding of the linguistic nuances embedded in sign language gestures.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7AFA7A1-642F-2A18-B3B9-43E92A125FBB}"/>
              </a:ext>
            </a:extLst>
          </p:cNvPr>
          <p:cNvSpPr/>
          <p:nvPr/>
        </p:nvSpPr>
        <p:spPr>
          <a:xfrm>
            <a:off x="347472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5AEEFC-B4B4-D5EC-D2A8-C480E54E5340}"/>
              </a:ext>
            </a:extLst>
          </p:cNvPr>
          <p:cNvSpPr/>
          <p:nvPr/>
        </p:nvSpPr>
        <p:spPr>
          <a:xfrm>
            <a:off x="347472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87DBA52-88FC-55D2-E02D-EE50AB97FD3B}"/>
              </a:ext>
            </a:extLst>
          </p:cNvPr>
          <p:cNvSpPr/>
          <p:nvPr/>
        </p:nvSpPr>
        <p:spPr>
          <a:xfrm>
            <a:off x="786384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Advanced Attention Mechanisms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161EF7C-9602-CD5B-A17B-D8C6EEAD298C}"/>
              </a:ext>
            </a:extLst>
          </p:cNvPr>
          <p:cNvSpPr/>
          <p:nvPr/>
        </p:nvSpPr>
        <p:spPr>
          <a:xfrm>
            <a:off x="786384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Multi-head self-attention layers allow the model to dynamically focus on the most informative spatial and temporal cues, improving both recognition accuracy and translation fluency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8DEBC25-FCF2-12EC-7859-4E74419D6749}"/>
              </a:ext>
            </a:extLst>
          </p:cNvPr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8046F86-4757-FA57-A025-7033647E1EC7}"/>
              </a:ext>
            </a:extLst>
          </p:cNvPr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0C65CB6-772A-BD6A-A446-9E41F29D094B}"/>
              </a:ext>
            </a:extLst>
          </p:cNvPr>
          <p:cNvSpPr/>
          <p:nvPr/>
        </p:nvSpPr>
        <p:spPr>
          <a:xfrm>
            <a:off x="5212080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Scalability Across Sign Languages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919F292-1DC9-C7CF-9965-89FFA7AEC889}"/>
              </a:ext>
            </a:extLst>
          </p:cNvPr>
          <p:cNvSpPr/>
          <p:nvPr/>
        </p:nvSpPr>
        <p:spPr>
          <a:xfrm>
            <a:off x="5212080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Through transfer learning and domain adaptation techniques, the architecture can be extended to support multiple sign languages and dialects with minimal retraining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F10F445-3E2C-BC2B-C314-E9F5500524BD}"/>
              </a:ext>
            </a:extLst>
          </p:cNvPr>
          <p:cNvSpPr/>
          <p:nvPr/>
        </p:nvSpPr>
        <p:spPr>
          <a:xfrm>
            <a:off x="347472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426893C-59DC-3F0A-DB57-98AA436904AC}"/>
              </a:ext>
            </a:extLst>
          </p:cNvPr>
          <p:cNvSpPr/>
          <p:nvPr/>
        </p:nvSpPr>
        <p:spPr>
          <a:xfrm>
            <a:off x="347472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537F0C-5EE0-DCAE-3EEB-E5A50FF1E33B}"/>
              </a:ext>
            </a:extLst>
          </p:cNvPr>
          <p:cNvSpPr/>
          <p:nvPr/>
        </p:nvSpPr>
        <p:spPr>
          <a:xfrm>
            <a:off x="786384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Real-Time Inference Capability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11315B1-D688-A180-162F-F4CBF62C0128}"/>
              </a:ext>
            </a:extLst>
          </p:cNvPr>
          <p:cNvSpPr/>
          <p:nvPr/>
        </p:nvSpPr>
        <p:spPr>
          <a:xfrm>
            <a:off x="786384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The system is optimized for low-latency inference, making it suitable for practical live scenarios such as video conferencing, assistive communication devices, and educational tools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6BC1740-3EE1-8824-0BBC-9AA8D69DBD44}"/>
              </a:ext>
            </a:extLst>
          </p:cNvPr>
          <p:cNvSpPr/>
          <p:nvPr/>
        </p:nvSpPr>
        <p:spPr>
          <a:xfrm>
            <a:off x="4773168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681FBDC-4A86-E9BF-200B-F14D4CFBEB9F}"/>
              </a:ext>
            </a:extLst>
          </p:cNvPr>
          <p:cNvSpPr/>
          <p:nvPr/>
        </p:nvSpPr>
        <p:spPr>
          <a:xfrm>
            <a:off x="4773168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8B74866-B99E-400F-BC6D-A532F4EE811C}"/>
              </a:ext>
            </a:extLst>
          </p:cNvPr>
          <p:cNvSpPr/>
          <p:nvPr/>
        </p:nvSpPr>
        <p:spPr>
          <a:xfrm>
            <a:off x="521208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IN" sz="1100" b="1" dirty="0">
                <a:solidFill>
                  <a:schemeClr val="accent1">
                    <a:lumMod val="50000"/>
                  </a:schemeClr>
                </a:solidFill>
              </a:rPr>
              <a:t>Robustness in Real-World Conditions</a:t>
            </a:r>
            <a:endParaRPr 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668A8C1-4AE7-D424-C42E-451A50EBE06D}"/>
              </a:ext>
            </a:extLst>
          </p:cNvPr>
          <p:cNvSpPr/>
          <p:nvPr/>
        </p:nvSpPr>
        <p:spPr>
          <a:xfrm>
            <a:off x="5212080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000" dirty="0">
                <a:solidFill>
                  <a:schemeClr val="accent1">
                    <a:lumMod val="75000"/>
                  </a:schemeClr>
                </a:solidFill>
              </a:rPr>
              <a:t>Data augmentation and domain adaptation methods enhance the model's performance across varied signing styles, lighting conditions, backgrounds, and signer diversity — addressing a key weakness of existing systems.</a:t>
            </a:r>
            <a:endParaRPr lang="en-US" sz="95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27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REQUIREMENTS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Hardware and software specifications for SignNet-II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4023360" cy="34747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447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447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5179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Pentium IV 2.4 GHz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1305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305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Hard Disk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203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40 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163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16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RAM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512 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SOFTWARE REQUIREMENTS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444752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447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Operating System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1490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Windows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112264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12264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Coding Language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21579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Python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779776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7977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Framework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2825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TensorFlow / PyTorch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447288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4728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Libraries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OpenPose, OpenCV, NumPy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Transformer-based multi-stream encoder-decoder architecture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0" kern="0" spc="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E4F7"/>
                </a:solidFill>
              </a:rPr>
              <a:t>SignNet-II: An End-to-End Transformer Architecture for Bidirectional Sign Language Translation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Eluru College of Engineering &amp; Technology  |  Department of Computer Science and Engineering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1358</Words>
  <Application>Microsoft Office PowerPoint</Application>
  <PresentationFormat>On-screen Show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Bahnschrift SemiBold SemiConden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SignNet-II Presentation</dc:title>
  <dc:subject>PptxGenJS Presentation</dc:subject>
  <dc:creator>PptxGenJS</dc:creator>
  <cp:lastModifiedBy>tirumala satya sai ram</cp:lastModifiedBy>
  <cp:revision>3</cp:revision>
  <dcterms:created xsi:type="dcterms:W3CDTF">2026-03-25T06:06:15Z</dcterms:created>
  <dcterms:modified xsi:type="dcterms:W3CDTF">2026-04-09T17:27:32Z</dcterms:modified>
</cp:coreProperties>
</file>